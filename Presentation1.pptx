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embeddedFontLst>
    <p:embeddedFont>
      <p:font typeface="Bricolage Grotesque Medium" panose="020B0604020202020204" charset="0"/>
      <p:regular r:id="rId6"/>
    </p:embeddedFont>
    <p:embeddedFont>
      <p:font typeface="Inter" panose="020B0604020202020204" charset="0"/>
      <p:regular r:id="rId7"/>
    </p:embeddedFont>
    <p:embeddedFont>
      <p:font typeface="Inter Bold" panose="020B0604020202020204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38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95523"/>
            <a:ext cx="6199330" cy="86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15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Sentinel AML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631908" y="1659334"/>
            <a:ext cx="6199330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E2A86F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Agentic suspicious-activity detection with explainable, auditable decisions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1908" y="2191841"/>
            <a:ext cx="6808915" cy="162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300" i="1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the data. Trace every decision.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1908" y="2502793"/>
            <a:ext cx="6199330" cy="19050"/>
          </a:xfrm>
          <a:prstGeom prst="roundRect">
            <a:avLst>
              <a:gd name="adj" fmla="val 59999"/>
            </a:avLst>
          </a:prstGeom>
          <a:solidFill>
            <a:srgbClr val="44403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1908" y="2669877"/>
            <a:ext cx="619933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1908" y="2986881"/>
            <a:ext cx="6199330" cy="461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80000"/>
              </a:lnSpc>
              <a:buSzPct val="100000"/>
              <a:buChar char="•"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AML rules generate overwhelming alert volumes that bury real threats</a:t>
            </a:r>
            <a:endParaRPr lang="en-US" sz="1050" dirty="0"/>
          </a:p>
          <a:p>
            <a:pPr marL="213360" indent="-213360" algn="l">
              <a:lnSpc>
                <a:spcPct val="80000"/>
              </a:lnSpc>
              <a:buSzPct val="100000"/>
              <a:buChar char="•"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Structuring, smurfing, layering, and rapid fund movement evade threshold-only detection</a:t>
            </a:r>
            <a:endParaRPr lang="en-US" sz="1050" dirty="0"/>
          </a:p>
          <a:p>
            <a:pPr marL="213360" indent="-213360" algn="l">
              <a:lnSpc>
                <a:spcPct val="80000"/>
              </a:lnSpc>
              <a:buSzPct val="100000"/>
              <a:buChar char="•"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Investigators receive scores without evidence, context, or a defensible decision trail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1908" y="3596779"/>
            <a:ext cx="6199330" cy="19050"/>
          </a:xfrm>
          <a:prstGeom prst="roundRect">
            <a:avLst>
              <a:gd name="adj" fmla="val 59999"/>
            </a:avLst>
          </a:prstGeom>
          <a:solidFill>
            <a:srgbClr val="44403C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1908" y="3763863"/>
            <a:ext cx="619933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The Sentinel Approach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608" y="4085034"/>
            <a:ext cx="203096" cy="2031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1833" y="4093567"/>
            <a:ext cx="259629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Ask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71833" y="4410571"/>
            <a:ext cx="2596291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submits a natural-language investigation question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5722" y="4085034"/>
            <a:ext cx="203096" cy="2031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34947" y="4093567"/>
            <a:ext cx="259629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Plan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234947" y="4410571"/>
            <a:ext cx="2596291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 extracts intent, entities, dates, amounts, countries, payment types, and AML typology — then builds the smallest defensible analytical toolchain</a:t>
            </a:r>
            <a:endParaRPr lang="en-US" sz="10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608" y="5126236"/>
            <a:ext cx="203096" cy="2031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1833" y="5134769"/>
            <a:ext cx="5759405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Act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71833" y="5451773"/>
            <a:ext cx="5759405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entities, risk level, evidence-based explanation, and a Monitor / Review / Report action surfaced to the human reviewer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167978" y="708223"/>
            <a:ext cx="2148231" cy="141089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 w="6350">
            <a:solidFill>
              <a:srgbClr val="C4743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309659" y="849908"/>
            <a:ext cx="1864869" cy="595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5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5.14M</a:t>
            </a:r>
            <a:endParaRPr lang="en-US" sz="4250" dirty="0"/>
          </a:p>
        </p:txBody>
      </p:sp>
      <p:sp>
        <p:nvSpPr>
          <p:cNvPr id="21" name="Text 16"/>
          <p:cNvSpPr/>
          <p:nvPr/>
        </p:nvSpPr>
        <p:spPr>
          <a:xfrm>
            <a:off x="7309659" y="1546423"/>
            <a:ext cx="1864869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Governed Analytical Rows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9417707" y="708223"/>
            <a:ext cx="2148330" cy="141089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 w="6350">
            <a:solidFill>
              <a:srgbClr val="D5976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559388" y="849908"/>
            <a:ext cx="1864968" cy="595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5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11</a:t>
            </a:r>
            <a:endParaRPr lang="en-US" sz="4250" dirty="0"/>
          </a:p>
        </p:txBody>
      </p:sp>
      <p:sp>
        <p:nvSpPr>
          <p:cNvPr id="24" name="Text 19"/>
          <p:cNvSpPr/>
          <p:nvPr/>
        </p:nvSpPr>
        <p:spPr>
          <a:xfrm>
            <a:off x="9559388" y="1546423"/>
            <a:ext cx="1864968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Selectively Invoked AML Tools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167978" y="2220615"/>
            <a:ext cx="4398059" cy="1195388"/>
          </a:xfrm>
          <a:prstGeom prst="roundRect">
            <a:avLst>
              <a:gd name="adj" fmla="val 4758"/>
            </a:avLst>
          </a:prstGeom>
          <a:solidFill>
            <a:srgbClr val="FFFFFF"/>
          </a:solidFill>
          <a:ln w="6350">
            <a:solidFill>
              <a:srgbClr val="E5B98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309659" y="2362299"/>
            <a:ext cx="4114697" cy="595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5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Human</a:t>
            </a:r>
            <a:endParaRPr lang="en-US" sz="4250" dirty="0"/>
          </a:p>
        </p:txBody>
      </p:sp>
      <p:sp>
        <p:nvSpPr>
          <p:cNvPr id="27" name="Text 22"/>
          <p:cNvSpPr/>
          <p:nvPr/>
        </p:nvSpPr>
        <p:spPr>
          <a:xfrm>
            <a:off x="7309659" y="3058815"/>
            <a:ext cx="411469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Controlled Escalation Workflow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7167978" y="3564037"/>
            <a:ext cx="4398059" cy="19050"/>
          </a:xfrm>
          <a:prstGeom prst="roundRect">
            <a:avLst>
              <a:gd name="adj" fmla="val 59999"/>
            </a:avLst>
          </a:prstGeom>
          <a:solidFill>
            <a:srgbClr val="44403C">
              <a:alpha val="50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7167978" y="3731121"/>
            <a:ext cx="4398059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Key Capabilities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7167978" y="4101405"/>
            <a:ext cx="67665" cy="67667"/>
          </a:xfrm>
          <a:prstGeom prst="ellipse">
            <a:avLst/>
          </a:prstGeom>
          <a:solidFill>
            <a:srgbClr val="C4743C"/>
          </a:solidFill>
          <a:ln/>
        </p:spPr>
      </p:sp>
      <p:sp>
        <p:nvSpPr>
          <p:cNvPr id="31" name="Text 26"/>
          <p:cNvSpPr/>
          <p:nvPr/>
        </p:nvSpPr>
        <p:spPr>
          <a:xfrm>
            <a:off x="7337142" y="4060825"/>
            <a:ext cx="4228895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Query-aware dynamic planning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167978" y="4434780"/>
            <a:ext cx="67665" cy="67667"/>
          </a:xfrm>
          <a:prstGeom prst="ellipse">
            <a:avLst/>
          </a:prstGeom>
          <a:solidFill>
            <a:srgbClr val="D59761"/>
          </a:solidFill>
          <a:ln/>
        </p:spPr>
      </p:sp>
      <p:sp>
        <p:nvSpPr>
          <p:cNvPr id="33" name="Text 28"/>
          <p:cNvSpPr/>
          <p:nvPr/>
        </p:nvSpPr>
        <p:spPr>
          <a:xfrm>
            <a:off x="7337142" y="4394200"/>
            <a:ext cx="4228895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AML detection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7167978" y="4768155"/>
            <a:ext cx="67665" cy="67667"/>
          </a:xfrm>
          <a:prstGeom prst="ellipse">
            <a:avLst/>
          </a:prstGeom>
          <a:solidFill>
            <a:srgbClr val="E5B985"/>
          </a:solidFill>
          <a:ln/>
        </p:spPr>
      </p:sp>
      <p:sp>
        <p:nvSpPr>
          <p:cNvPr id="35" name="Text 30"/>
          <p:cNvSpPr/>
          <p:nvPr/>
        </p:nvSpPr>
        <p:spPr>
          <a:xfrm>
            <a:off x="7337142" y="4727575"/>
            <a:ext cx="4228895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Grounded, evidence-checked explanations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7167978" y="5101530"/>
            <a:ext cx="67665" cy="67667"/>
          </a:xfrm>
          <a:prstGeom prst="ellipse">
            <a:avLst/>
          </a:prstGeom>
          <a:solidFill>
            <a:srgbClr val="F7E6D6"/>
          </a:solidFill>
          <a:ln/>
        </p:spPr>
      </p:sp>
      <p:sp>
        <p:nvSpPr>
          <p:cNvPr id="37" name="Text 32"/>
          <p:cNvSpPr/>
          <p:nvPr/>
        </p:nvSpPr>
        <p:spPr>
          <a:xfrm>
            <a:off x="7337142" y="5060950"/>
            <a:ext cx="4228895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dataset uploads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7167978" y="5434905"/>
            <a:ext cx="67665" cy="67667"/>
          </a:xfrm>
          <a:prstGeom prst="ellipse">
            <a:avLst/>
          </a:prstGeom>
          <a:solidFill>
            <a:srgbClr val="C4743C"/>
          </a:solidFill>
          <a:ln/>
        </p:spPr>
      </p:sp>
      <p:sp>
        <p:nvSpPr>
          <p:cNvPr id="39" name="Text 34"/>
          <p:cNvSpPr/>
          <p:nvPr/>
        </p:nvSpPr>
        <p:spPr>
          <a:xfrm>
            <a:off x="7337142" y="5394325"/>
            <a:ext cx="4228895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investigation trace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7167978" y="5638800"/>
            <a:ext cx="4398059" cy="510977"/>
          </a:xfrm>
          <a:prstGeom prst="roundRect">
            <a:avLst>
              <a:gd name="adj" fmla="val 11130"/>
            </a:avLst>
          </a:prstGeom>
          <a:solidFill>
            <a:srgbClr val="F3E3D8"/>
          </a:solidFill>
          <a:ln/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309" y="5807968"/>
            <a:ext cx="169263" cy="13533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607903" y="5764014"/>
            <a:ext cx="3822803" cy="26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Impact: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Faster triage · less unnecessary analysis · clearer reviewer decisions · stronger auditability</a:t>
            </a:r>
            <a:endParaRPr lang="en-US" sz="10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4AC967-3428-8A0B-6366-577BD2FA7148}"/>
              </a:ext>
            </a:extLst>
          </p:cNvPr>
          <p:cNvSpPr/>
          <p:nvPr/>
        </p:nvSpPr>
        <p:spPr>
          <a:xfrm>
            <a:off x="11010122" y="6568751"/>
            <a:ext cx="1128538" cy="215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96491"/>
            <a:ext cx="1300428" cy="178098"/>
          </a:xfrm>
          <a:prstGeom prst="roundRect">
            <a:avLst>
              <a:gd name="adj" fmla="val 22140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702253" y="531614"/>
            <a:ext cx="1769324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31908" y="705048"/>
            <a:ext cx="10927878" cy="373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One query activates only the evidence path it needs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302" y="1193105"/>
            <a:ext cx="7103091" cy="19474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00502" y="1896826"/>
            <a:ext cx="1073403" cy="195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Query Input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00502" y="2147218"/>
            <a:ext cx="1073403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enters their initial search request.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49217" y="1678360"/>
            <a:ext cx="1073403" cy="391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Intent &amp; Entities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9217" y="2124475"/>
            <a:ext cx="1073403" cy="380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analyzes the query's meaning.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325266" y="1896826"/>
            <a:ext cx="1073403" cy="391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BM25 Grounding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25266" y="2342940"/>
            <a:ext cx="1073403" cy="380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data is retrieved from databases.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87648" y="1874082"/>
            <a:ext cx="1073403" cy="195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Plan &amp; Tools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87648" y="2124475"/>
            <a:ext cx="1073403" cy="380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execution plan is created using tools.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1908" y="3302496"/>
            <a:ext cx="4535771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Selective Tool Registry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1908" y="3575050"/>
            <a:ext cx="2229786" cy="112266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6350">
            <a:solidFill>
              <a:srgbClr val="C474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5532" y="3698677"/>
            <a:ext cx="1982539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5532" y="3961705"/>
            <a:ext cx="1982539" cy="505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76000"/>
              </a:lnSpc>
              <a:buSzPct val="100000"/>
              <a:buChar char="•"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DuckDB filtered loader</a:t>
            </a:r>
            <a:endParaRPr lang="en-US" sz="900" dirty="0"/>
          </a:p>
          <a:p>
            <a:pPr marL="182880" indent="-182880" algn="l">
              <a:lnSpc>
                <a:spcPct val="76000"/>
              </a:lnSpc>
              <a:buSzPct val="100000"/>
              <a:buChar char="•"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aggregation</a:t>
            </a:r>
            <a:endParaRPr lang="en-US" sz="900" dirty="0"/>
          </a:p>
          <a:p>
            <a:pPr marL="182880" indent="-182880" algn="l">
              <a:lnSpc>
                <a:spcPct val="76000"/>
              </a:lnSpc>
              <a:buSzPct val="100000"/>
              <a:buChar char="•"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Selective EDA</a:t>
            </a:r>
            <a:endParaRPr lang="en-US" sz="900" dirty="0"/>
          </a:p>
          <a:p>
            <a:pPr marL="182880" indent="-182880" algn="l">
              <a:lnSpc>
                <a:spcPct val="76000"/>
              </a:lnSpc>
              <a:buSzPct val="100000"/>
              <a:buChar char="•"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feature engineering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37893" y="3575050"/>
            <a:ext cx="2229786" cy="112266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6350">
            <a:solidFill>
              <a:srgbClr val="D59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61516" y="3698677"/>
            <a:ext cx="1982539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Detection Layer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061516" y="3961705"/>
            <a:ext cx="1982539" cy="61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76000"/>
              </a:lnSpc>
              <a:buSzPct val="100000"/>
              <a:buChar char="•"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AML rule engine</a:t>
            </a:r>
            <a:endParaRPr lang="en-US" sz="900" dirty="0"/>
          </a:p>
          <a:p>
            <a:pPr marL="182880" indent="-182880" algn="l">
              <a:lnSpc>
                <a:spcPct val="76000"/>
              </a:lnSpc>
              <a:buSzPct val="100000"/>
              <a:buChar char="•"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Z-score and IQR statistics</a:t>
            </a:r>
            <a:endParaRPr lang="en-US" sz="900" dirty="0"/>
          </a:p>
          <a:p>
            <a:pPr marL="182880" indent="-182880" algn="l">
              <a:lnSpc>
                <a:spcPct val="76000"/>
              </a:lnSpc>
              <a:buSzPct val="100000"/>
              <a:buChar char="•"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</a:t>
            </a:r>
            <a:endParaRPr lang="en-US" sz="900" dirty="0"/>
          </a:p>
          <a:p>
            <a:pPr marL="182880" indent="-182880" algn="l">
              <a:lnSpc>
                <a:spcPct val="76000"/>
              </a:lnSpc>
              <a:buSzPct val="100000"/>
              <a:buChar char="•"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NetworkX graph analysis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1908" y="4812705"/>
            <a:ext cx="4535771" cy="12700"/>
          </a:xfrm>
          <a:prstGeom prst="roundRect">
            <a:avLst>
              <a:gd name="adj" fmla="val 59999"/>
            </a:avLst>
          </a:prstGeom>
          <a:solidFill>
            <a:srgbClr val="44403C">
              <a:alpha val="5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31908" y="4940399"/>
            <a:ext cx="4535771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Architecture Principles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1908" y="5248176"/>
            <a:ext cx="58637" cy="58638"/>
          </a:xfrm>
          <a:prstGeom prst="ellipse">
            <a:avLst/>
          </a:prstGeom>
          <a:solidFill>
            <a:srgbClr val="C4743C"/>
          </a:solidFill>
          <a:ln/>
        </p:spPr>
      </p:sp>
      <p:sp>
        <p:nvSpPr>
          <p:cNvPr id="24" name="Text 21"/>
          <p:cNvSpPr/>
          <p:nvPr/>
        </p:nvSpPr>
        <p:spPr>
          <a:xfrm>
            <a:off x="766743" y="5212953"/>
            <a:ext cx="4400936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 tools run only when justified by the query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31908" y="5507137"/>
            <a:ext cx="58637" cy="58638"/>
          </a:xfrm>
          <a:prstGeom prst="ellipse">
            <a:avLst/>
          </a:prstGeom>
          <a:solidFill>
            <a:srgbClr val="D59761"/>
          </a:solidFill>
          <a:ln/>
        </p:spPr>
      </p:sp>
      <p:sp>
        <p:nvSpPr>
          <p:cNvPr id="26" name="Text 23"/>
          <p:cNvSpPr/>
          <p:nvPr/>
        </p:nvSpPr>
        <p:spPr>
          <a:xfrm>
            <a:off x="766743" y="5471914"/>
            <a:ext cx="4400936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is skipped for targeted entity lookups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31908" y="5766098"/>
            <a:ext cx="58637" cy="58638"/>
          </a:xfrm>
          <a:prstGeom prst="ellipse">
            <a:avLst/>
          </a:prstGeom>
          <a:solidFill>
            <a:srgbClr val="E5B985"/>
          </a:solidFill>
          <a:ln/>
        </p:spPr>
      </p:sp>
      <p:sp>
        <p:nvSpPr>
          <p:cNvPr id="28" name="Text 25"/>
          <p:cNvSpPr/>
          <p:nvPr/>
        </p:nvSpPr>
        <p:spPr>
          <a:xfrm>
            <a:off x="766743" y="5730875"/>
            <a:ext cx="4400936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selected </a:t>
            </a:r>
            <a:r>
              <a:rPr lang="en-US" sz="900" i="1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skipped tool records its reason and execution time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1908" y="6025059"/>
            <a:ext cx="58637" cy="58638"/>
          </a:xfrm>
          <a:prstGeom prst="ellipse">
            <a:avLst/>
          </a:prstGeom>
          <a:solidFill>
            <a:srgbClr val="F7E6D6"/>
          </a:solidFill>
          <a:ln/>
        </p:spPr>
      </p:sp>
      <p:sp>
        <p:nvSpPr>
          <p:cNvPr id="30" name="Text 27"/>
          <p:cNvSpPr/>
          <p:nvPr/>
        </p:nvSpPr>
        <p:spPr>
          <a:xfrm>
            <a:off x="766743" y="5989836"/>
            <a:ext cx="4400936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bounded before any model execution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460367" y="3302496"/>
            <a:ext cx="6105670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Adaptive Query Paths</a:t>
            </a:r>
            <a:endParaRPr lang="en-US" sz="13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0367" y="3575050"/>
            <a:ext cx="1984425" cy="92273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641139" y="3705027"/>
            <a:ext cx="1673679" cy="373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E2A86F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"10+ transactions under $10K"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641139" y="4154884"/>
            <a:ext cx="1673679" cy="10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Loader + Aggregation only</a:t>
            </a:r>
            <a:endParaRPr lang="en-US" sz="9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0990" y="3575050"/>
            <a:ext cx="1984425" cy="92273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701762" y="3705027"/>
            <a:ext cx="1673679" cy="373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E2A86F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"Is customer 4521 suspicious?"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701762" y="4154884"/>
            <a:ext cx="1673679" cy="212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Entity lookup + targeted detectors</a:t>
            </a:r>
            <a:endParaRPr lang="en-US" sz="9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1613" y="3575050"/>
            <a:ext cx="1984425" cy="92273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762385" y="3705027"/>
            <a:ext cx="1673679" cy="373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E2A86F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"Detect circular layering"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9762385" y="4154884"/>
            <a:ext cx="1673679" cy="212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Filtered load + graph analysis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5460367" y="4612779"/>
            <a:ext cx="6105670" cy="12700"/>
          </a:xfrm>
          <a:prstGeom prst="roundRect">
            <a:avLst>
              <a:gd name="adj" fmla="val 59999"/>
            </a:avLst>
          </a:prstGeom>
          <a:solidFill>
            <a:srgbClr val="44403C">
              <a:alpha val="5000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5460367" y="4740473"/>
            <a:ext cx="6105670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5460367" y="5003502"/>
            <a:ext cx="6715255" cy="85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6000"/>
              </a:lnSpc>
              <a:buNone/>
            </a:pPr>
            <a:r>
              <a:rPr lang="en-US" sz="7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· TypeScript 6 · Vite 8 · FastAPI · Python · DuckDB · Pandas · NumPy · scikit-learn · NetworkX · Groq · Plotly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5460367" y="5164832"/>
            <a:ext cx="6105670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APIs &amp; Database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5460367" y="5427861"/>
            <a:ext cx="6105670" cy="23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76000"/>
              </a:lnSpc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440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External:</a:t>
            </a:r>
            <a:r>
              <a:rPr lang="en-US" sz="7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Groq API  |  </a:t>
            </a:r>
            <a:r>
              <a:rPr lang="en-US" sz="700" b="1" dirty="0">
                <a:solidFill>
                  <a:srgbClr val="4440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FastAPI REST:</a:t>
            </a:r>
            <a:r>
              <a:rPr lang="en-US" sz="7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· Evidence · Datasets · Investigations · Review Queue · Governance · Audit &amp; Export</a:t>
            </a:r>
            <a:endParaRPr lang="en-US" sz="700" dirty="0"/>
          </a:p>
          <a:p>
            <a:pPr marL="0" indent="0" algn="l">
              <a:lnSpc>
                <a:spcPct val="76000"/>
              </a:lnSpc>
              <a:buNone/>
            </a:pPr>
            <a:r>
              <a:rPr lang="en-US" sz="700" b="1" dirty="0">
                <a:solidFill>
                  <a:srgbClr val="4440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DuckDB workspaces:</a:t>
            </a:r>
            <a:r>
              <a:rPr lang="en-US" sz="70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Transactions · SAML-D knowledge · Dataset registry · Investigations · Alert queue · Append-only audit events</a:t>
            </a:r>
            <a:endParaRPr lang="en-US" sz="7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0B5613-1F8C-5A3D-59B0-D84E0AAD05C5}"/>
              </a:ext>
            </a:extLst>
          </p:cNvPr>
          <p:cNvSpPr/>
          <p:nvPr/>
        </p:nvSpPr>
        <p:spPr>
          <a:xfrm>
            <a:off x="11010122" y="6568751"/>
            <a:ext cx="1128538" cy="215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96491"/>
            <a:ext cx="1089395" cy="164306"/>
          </a:xfrm>
          <a:prstGeom prst="roundRect">
            <a:avLst>
              <a:gd name="adj" fmla="val 22124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696796" y="528935"/>
            <a:ext cx="1569204" cy="99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INTELLIGENCE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31908" y="686693"/>
            <a:ext cx="10927878" cy="344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45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Hybrid intelligence with evidence-level explainability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31908" y="1193105"/>
            <a:ext cx="5891561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Detection &amp; Scoring Workflow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964" y="1438176"/>
            <a:ext cx="3829450" cy="16513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638" y="2775380"/>
            <a:ext cx="1005912" cy="11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Review &amp; Report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920638" y="2393109"/>
            <a:ext cx="1005912" cy="11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Score &amp; Evidence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920638" y="2014698"/>
            <a:ext cx="1119336" cy="11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Compute AML Features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920638" y="1632427"/>
            <a:ext cx="1005912" cy="11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Query Transactions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31908" y="3162498"/>
            <a:ext cx="5891561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On-Demand Feature Engineering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1908" y="3440013"/>
            <a:ext cx="54073" cy="54074"/>
          </a:xfrm>
          <a:prstGeom prst="ellipse">
            <a:avLst/>
          </a:prstGeom>
          <a:solidFill>
            <a:srgbClr val="C4743C"/>
          </a:solidFill>
          <a:ln/>
        </p:spPr>
      </p:sp>
      <p:sp>
        <p:nvSpPr>
          <p:cNvPr id="13" name="Text 10"/>
          <p:cNvSpPr/>
          <p:nvPr/>
        </p:nvSpPr>
        <p:spPr>
          <a:xfrm>
            <a:off x="750769" y="3407569"/>
            <a:ext cx="5772700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transaction frequency and rolling value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1908" y="3664645"/>
            <a:ext cx="54073" cy="54074"/>
          </a:xfrm>
          <a:prstGeom prst="ellipse">
            <a:avLst/>
          </a:prstGeom>
          <a:solidFill>
            <a:srgbClr val="D59761"/>
          </a:solidFill>
          <a:ln/>
        </p:spPr>
      </p:sp>
      <p:sp>
        <p:nvSpPr>
          <p:cNvPr id="15" name="Text 12"/>
          <p:cNvSpPr/>
          <p:nvPr/>
        </p:nvSpPr>
        <p:spPr>
          <a:xfrm>
            <a:off x="750769" y="3632200"/>
            <a:ext cx="5772700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Near-threshold transaction count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1908" y="3889276"/>
            <a:ext cx="54073" cy="54074"/>
          </a:xfrm>
          <a:prstGeom prst="ellipse">
            <a:avLst/>
          </a:prstGeom>
          <a:solidFill>
            <a:srgbClr val="E5B985"/>
          </a:solidFill>
          <a:ln/>
        </p:spPr>
      </p:sp>
      <p:sp>
        <p:nvSpPr>
          <p:cNvPr id="17" name="Text 14"/>
          <p:cNvSpPr/>
          <p:nvPr/>
        </p:nvSpPr>
        <p:spPr>
          <a:xfrm>
            <a:off x="750769" y="3856831"/>
            <a:ext cx="5772700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amount deviation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31908" y="4113907"/>
            <a:ext cx="54073" cy="54074"/>
          </a:xfrm>
          <a:prstGeom prst="ellipse">
            <a:avLst/>
          </a:prstGeom>
          <a:solidFill>
            <a:srgbClr val="F7E6D6"/>
          </a:solidFill>
          <a:ln/>
        </p:spPr>
      </p:sp>
      <p:sp>
        <p:nvSpPr>
          <p:cNvPr id="19" name="Text 16"/>
          <p:cNvSpPr/>
          <p:nvPr/>
        </p:nvSpPr>
        <p:spPr>
          <a:xfrm>
            <a:off x="750769" y="4081463"/>
            <a:ext cx="5772700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One-hour velocity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31908" y="4338538"/>
            <a:ext cx="54073" cy="54074"/>
          </a:xfrm>
          <a:prstGeom prst="ellipse">
            <a:avLst/>
          </a:prstGeom>
          <a:solidFill>
            <a:srgbClr val="C4743C"/>
          </a:solidFill>
          <a:ln/>
        </p:spPr>
      </p:sp>
      <p:sp>
        <p:nvSpPr>
          <p:cNvPr id="21" name="Text 18"/>
          <p:cNvSpPr/>
          <p:nvPr/>
        </p:nvSpPr>
        <p:spPr>
          <a:xfrm>
            <a:off x="750769" y="4306094"/>
            <a:ext cx="5772700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Fan-in and fan-out behavior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31908" y="4563170"/>
            <a:ext cx="54073" cy="54074"/>
          </a:xfrm>
          <a:prstGeom prst="ellipse">
            <a:avLst/>
          </a:prstGeom>
          <a:solidFill>
            <a:srgbClr val="D59761"/>
          </a:solidFill>
          <a:ln/>
        </p:spPr>
      </p:sp>
      <p:sp>
        <p:nvSpPr>
          <p:cNvPr id="23" name="Text 20"/>
          <p:cNvSpPr/>
          <p:nvPr/>
        </p:nvSpPr>
        <p:spPr>
          <a:xfrm>
            <a:off x="750769" y="4530725"/>
            <a:ext cx="5772700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cash-out and counterparty-network indicators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31908" y="4698702"/>
            <a:ext cx="5891561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Detector Weight Allocation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31908" y="4997847"/>
            <a:ext cx="1509675" cy="135235"/>
          </a:xfrm>
          <a:prstGeom prst="roundRect">
            <a:avLst>
              <a:gd name="adj" fmla="val 33600"/>
            </a:avLst>
          </a:prstGeom>
          <a:solidFill>
            <a:srgbClr val="FFFFFF"/>
          </a:solidFill>
          <a:ln w="6350">
            <a:solidFill>
              <a:srgbClr val="C4743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1908" y="4997847"/>
            <a:ext cx="603830" cy="135235"/>
          </a:xfrm>
          <a:prstGeom prst="roundRect">
            <a:avLst>
              <a:gd name="adj" fmla="val 33600"/>
            </a:avLst>
          </a:prstGeom>
          <a:solidFill>
            <a:srgbClr val="C4743C"/>
          </a:solidFill>
          <a:ln/>
        </p:spPr>
      </p:sp>
      <p:sp>
        <p:nvSpPr>
          <p:cNvPr id="27" name="Text 24"/>
          <p:cNvSpPr/>
          <p:nvPr/>
        </p:nvSpPr>
        <p:spPr>
          <a:xfrm>
            <a:off x="2222643" y="4997847"/>
            <a:ext cx="297649" cy="135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40%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31908" y="5235773"/>
            <a:ext cx="2905251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618120" y="4997847"/>
            <a:ext cx="1520688" cy="135235"/>
          </a:xfrm>
          <a:prstGeom prst="roundRect">
            <a:avLst>
              <a:gd name="adj" fmla="val 33600"/>
            </a:avLst>
          </a:prstGeom>
          <a:solidFill>
            <a:srgbClr val="FFFFFF"/>
          </a:solidFill>
          <a:ln w="6350">
            <a:solidFill>
              <a:srgbClr val="D5976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18120" y="4997847"/>
            <a:ext cx="380098" cy="135235"/>
          </a:xfrm>
          <a:prstGeom prst="roundRect">
            <a:avLst>
              <a:gd name="adj" fmla="val 33600"/>
            </a:avLst>
          </a:prstGeom>
          <a:solidFill>
            <a:srgbClr val="D59761"/>
          </a:solidFill>
          <a:ln/>
        </p:spPr>
      </p:sp>
      <p:sp>
        <p:nvSpPr>
          <p:cNvPr id="31" name="Text 28"/>
          <p:cNvSpPr/>
          <p:nvPr/>
        </p:nvSpPr>
        <p:spPr>
          <a:xfrm>
            <a:off x="5219867" y="4997847"/>
            <a:ext cx="286636" cy="135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25%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618120" y="5235773"/>
            <a:ext cx="2905350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Statistical Detector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31908" y="5591572"/>
            <a:ext cx="1518604" cy="135235"/>
          </a:xfrm>
          <a:prstGeom prst="roundRect">
            <a:avLst>
              <a:gd name="adj" fmla="val 33600"/>
            </a:avLst>
          </a:prstGeom>
          <a:solidFill>
            <a:srgbClr val="FFFFFF"/>
          </a:solidFill>
          <a:ln w="6350">
            <a:solidFill>
              <a:srgbClr val="E5B98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1908" y="5591572"/>
            <a:ext cx="531502" cy="135235"/>
          </a:xfrm>
          <a:prstGeom prst="roundRect">
            <a:avLst>
              <a:gd name="adj" fmla="val 33600"/>
            </a:avLst>
          </a:prstGeom>
          <a:solidFill>
            <a:srgbClr val="E5B985"/>
          </a:solidFill>
          <a:ln/>
        </p:spPr>
      </p:sp>
      <p:sp>
        <p:nvSpPr>
          <p:cNvPr id="35" name="Text 32"/>
          <p:cNvSpPr/>
          <p:nvPr/>
        </p:nvSpPr>
        <p:spPr>
          <a:xfrm>
            <a:off x="2231572" y="5591572"/>
            <a:ext cx="288719" cy="135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35%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1908" y="5829498"/>
            <a:ext cx="2905251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31908" y="6074569"/>
            <a:ext cx="5891561" cy="15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 normalized only across detectors that actually ran · Optional high-risk-jurisdiction uplift · Explanations validated against computed numeric evidence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6793735" y="1193105"/>
            <a:ext cx="4772302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Model &amp; Dataset Governance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793735" y="1438176"/>
            <a:ext cx="2353708" cy="706636"/>
          </a:xfrm>
          <a:prstGeom prst="roundRect">
            <a:avLst>
              <a:gd name="adj" fmla="val 6430"/>
            </a:avLst>
          </a:prstGeom>
          <a:solidFill>
            <a:srgbClr val="FFFFFF"/>
          </a:solidFill>
          <a:ln w="12700">
            <a:solidFill>
              <a:srgbClr val="C4743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14580" y="1559024"/>
            <a:ext cx="2112017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914580" y="1795959"/>
            <a:ext cx="2112017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50,000 SAML-D normal-behavior rows · 200 estimators · 0.10% contamination · 6 versioned serving features · PSI feature-drift monitoring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9212230" y="1438176"/>
            <a:ext cx="2353807" cy="706636"/>
          </a:xfrm>
          <a:prstGeom prst="roundRect">
            <a:avLst>
              <a:gd name="adj" fmla="val 6430"/>
            </a:avLst>
          </a:prstGeom>
          <a:solidFill>
            <a:srgbClr val="FFFFFF"/>
          </a:solidFill>
          <a:ln w="12700">
            <a:solidFill>
              <a:srgbClr val="D5976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333076" y="1559024"/>
            <a:ext cx="2112116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HI-Small Dataset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333076" y="1795959"/>
            <a:ext cx="2112116" cy="7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50" b="1" dirty="0">
                <a:solidFill>
                  <a:srgbClr val="4440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5,078,345</a:t>
            </a:r>
            <a:r>
              <a:rPr lang="en-US" sz="6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operational transaction rows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6793735" y="2209602"/>
            <a:ext cx="4772302" cy="630634"/>
          </a:xfrm>
          <a:prstGeom prst="roundRect">
            <a:avLst>
              <a:gd name="adj" fmla="val 7205"/>
            </a:avLst>
          </a:prstGeom>
          <a:solidFill>
            <a:srgbClr val="FFFFFF"/>
          </a:solidFill>
          <a:ln w="12700">
            <a:solidFill>
              <a:srgbClr val="E5B98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914580" y="2330450"/>
            <a:ext cx="4530612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SAML-D Dataset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914580" y="2567384"/>
            <a:ext cx="4530612" cy="15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50" b="1" dirty="0">
                <a:solidFill>
                  <a:srgbClr val="4440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59,873</a:t>
            </a:r>
            <a:r>
              <a:rPr lang="en-US" sz="6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compact knowledge and calibration rows · 17 laundering typologies in the governed knowledge catalogue · Operational evidence and calibration data remain isolated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6793735" y="2940149"/>
            <a:ext cx="4772302" cy="12700"/>
          </a:xfrm>
          <a:prstGeom prst="roundRect">
            <a:avLst>
              <a:gd name="adj" fmla="val 59999"/>
            </a:avLst>
          </a:prstGeom>
          <a:solidFill>
            <a:srgbClr val="44403C">
              <a:alpha val="5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6793735" y="3052763"/>
            <a:ext cx="4772302" cy="1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Medium" pitchFamily="34" charset="0"/>
                <a:ea typeface="Bricolage Grotesque Medium" pitchFamily="34" charset="-122"/>
                <a:cs typeface="Bricolage Grotesque Medium" pitchFamily="34" charset="-120"/>
              </a:rPr>
              <a:t>What Makes Sentinel Unique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793735" y="3330277"/>
            <a:ext cx="54073" cy="54074"/>
          </a:xfrm>
          <a:prstGeom prst="ellipse">
            <a:avLst/>
          </a:prstGeom>
          <a:solidFill>
            <a:srgbClr val="C4743C"/>
          </a:solidFill>
          <a:ln/>
        </p:spPr>
      </p:sp>
      <p:sp>
        <p:nvSpPr>
          <p:cNvPr id="51" name="Text 48"/>
          <p:cNvSpPr/>
          <p:nvPr/>
        </p:nvSpPr>
        <p:spPr>
          <a:xfrm>
            <a:off x="6912596" y="3297833"/>
            <a:ext cx="4653441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agent, not a fixed pipeline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793735" y="3554909"/>
            <a:ext cx="54073" cy="54074"/>
          </a:xfrm>
          <a:prstGeom prst="ellipse">
            <a:avLst/>
          </a:prstGeom>
          <a:solidFill>
            <a:srgbClr val="D59761"/>
          </a:solidFill>
          <a:ln/>
        </p:spPr>
      </p:sp>
      <p:sp>
        <p:nvSpPr>
          <p:cNvPr id="53" name="Text 50"/>
          <p:cNvSpPr/>
          <p:nvPr/>
        </p:nvSpPr>
        <p:spPr>
          <a:xfrm>
            <a:off x="6912596" y="3522464"/>
            <a:ext cx="4653441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labels are never presented as model predictions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6793735" y="3779540"/>
            <a:ext cx="54073" cy="54074"/>
          </a:xfrm>
          <a:prstGeom prst="ellipse">
            <a:avLst/>
          </a:prstGeom>
          <a:solidFill>
            <a:srgbClr val="E5B985"/>
          </a:solidFill>
          <a:ln/>
        </p:spPr>
      </p:sp>
      <p:sp>
        <p:nvSpPr>
          <p:cNvPr id="55" name="Text 52"/>
          <p:cNvSpPr/>
          <p:nvPr/>
        </p:nvSpPr>
        <p:spPr>
          <a:xfrm>
            <a:off x="6912596" y="3747095"/>
            <a:ext cx="4653441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Skipped detectors cannot dilute the final risk score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6793735" y="4004171"/>
            <a:ext cx="54073" cy="54074"/>
          </a:xfrm>
          <a:prstGeom prst="ellipse">
            <a:avLst/>
          </a:prstGeom>
          <a:solidFill>
            <a:srgbClr val="F7E6D6"/>
          </a:solidFill>
          <a:ln/>
        </p:spPr>
      </p:sp>
      <p:sp>
        <p:nvSpPr>
          <p:cNvPr id="57" name="Text 54"/>
          <p:cNvSpPr/>
          <p:nvPr/>
        </p:nvSpPr>
        <p:spPr>
          <a:xfrm>
            <a:off x="6912596" y="3971727"/>
            <a:ext cx="4653441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explanations are evidence-checked, with deterministic fallbacks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6793735" y="4228802"/>
            <a:ext cx="54073" cy="54074"/>
          </a:xfrm>
          <a:prstGeom prst="ellipse">
            <a:avLst/>
          </a:prstGeom>
          <a:solidFill>
            <a:srgbClr val="C4743C"/>
          </a:solidFill>
          <a:ln/>
        </p:spPr>
      </p:sp>
      <p:sp>
        <p:nvSpPr>
          <p:cNvPr id="59" name="Text 56"/>
          <p:cNvSpPr/>
          <p:nvPr/>
        </p:nvSpPr>
        <p:spPr>
          <a:xfrm>
            <a:off x="6912596" y="4196358"/>
            <a:ext cx="4653441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Dataset, model, policy, tool execution, and analyst actions remain fully traceable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6793735" y="4453434"/>
            <a:ext cx="54073" cy="54074"/>
          </a:xfrm>
          <a:prstGeom prst="ellipse">
            <a:avLst/>
          </a:prstGeom>
          <a:solidFill>
            <a:srgbClr val="D59761"/>
          </a:solidFill>
          <a:ln/>
        </p:spPr>
      </p:sp>
      <p:sp>
        <p:nvSpPr>
          <p:cNvPr id="61" name="Text 58"/>
          <p:cNvSpPr/>
          <p:nvPr/>
        </p:nvSpPr>
        <p:spPr>
          <a:xfrm>
            <a:off x="6912596" y="4420989"/>
            <a:ext cx="4653441" cy="9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50" dirty="0">
                <a:solidFill>
                  <a:srgbClr val="4440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 drafts evidence for reviewers but </a:t>
            </a:r>
            <a:r>
              <a:rPr lang="en-US" sz="850" b="1" dirty="0">
                <a:solidFill>
                  <a:srgbClr val="4440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never autonomously files a SAR/STR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6955953" y="4647307"/>
            <a:ext cx="521966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1050" b="1" dirty="0">
                <a:solidFill>
                  <a:srgbClr val="C474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Same transactions. Clearer risk. Every decision traceable.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6793735" y="4588966"/>
            <a:ext cx="12700" cy="235545"/>
          </a:xfrm>
          <a:prstGeom prst="roundRect">
            <a:avLst>
              <a:gd name="adj" fmla="val 59999"/>
            </a:avLst>
          </a:prstGeom>
          <a:solidFill>
            <a:srgbClr val="C4743C"/>
          </a:solidFill>
          <a:ln/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7515D29-8808-625E-BFD0-BB2154639B92}"/>
              </a:ext>
            </a:extLst>
          </p:cNvPr>
          <p:cNvSpPr/>
          <p:nvPr/>
        </p:nvSpPr>
        <p:spPr>
          <a:xfrm>
            <a:off x="11010122" y="6568751"/>
            <a:ext cx="1128538" cy="215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610</Words>
  <Application>Microsoft Office PowerPoint</Application>
  <PresentationFormat>Widescreen</PresentationFormat>
  <Paragraphs>105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Inter</vt:lpstr>
      <vt:lpstr>Bricolage Grotesque Medium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Mayank Gupta</dc:creator>
  <cp:lastModifiedBy>Mayank Gupta</cp:lastModifiedBy>
  <cp:revision>2</cp:revision>
  <dcterms:created xsi:type="dcterms:W3CDTF">2026-07-26T19:02:01Z</dcterms:created>
  <dcterms:modified xsi:type="dcterms:W3CDTF">2026-07-26T19:04:26Z</dcterms:modified>
</cp:coreProperties>
</file>